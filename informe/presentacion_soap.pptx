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20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elperso21-2025/proyecto-soap-productos/tree/dev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elperso21-2025/proyecto-soap-productos/tree/dev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elperso21-2025/proyecto-soap-productos/tree/dev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elperso21-2025/proyecto-soap-productos/tree/dev" TargetMode="Externa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elperso21-2025/proyecto-soap-productos/tree/dev" TargetMode="Externa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perso21-2025/proyecto-soap-productos/tree/dev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/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SOAP PRODUCTOS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distribuido de gestión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productos con SOAP y WSDL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Node.js  ·  Contrato WSDL  ·  Clientes en Python y PHP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19050">
            <a:solidFill>
              <a:srgbClr val="2F6F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Distribuidas — Tarea práctica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Ismael Vanegas   ·   Alexandra Caicedo   ·   Israel Arevalo</a:t>
            </a:r>
            <a:endParaRPr lang="en-US" sz="1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2FCD4C8-8415-32C9-3907-47C6F865C781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QUÉ VAMOS A HABLAR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" cy="512064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196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SOAP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por qué existe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12064" cy="512064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734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WSDL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081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pieza más importante del proyecto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512064" cy="512064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6484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las 6 operaciones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95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armado el sistema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512064" cy="512064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5628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910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Servidor, SoapUI y los dos clientes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512064" cy="512064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54772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5824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adicionales y conclusiones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B60DB076-ED6E-49CC-57DB-3E40467224EB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app que reparte su trabajo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programas distintos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información. En este proyecto: un script en Python, uno en PHP, o un panel web.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651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HTTP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por donde viaja cada solicitud y cada respuesta, casi siempre sin que el usuario lo note.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49640" y="2971800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549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40233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los datos y responde. Aquí: un servidor Node.js con la lista de productos.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43749DB-F3DF-13F9-8509-411A7866451D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IMPORTANTE ·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Object Access Protocol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protocolo de mensajería basado en XML. Cada solicitud y cada respuesta viaja dentro de un “sobre” con reglas estrictas: si el mensaje no coincide exactamente con lo que el contrato declaró, deja de ser válido.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91440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1C2B25"/>
          </a:solidFill>
          <a:ln w="12700">
            <a:solidFill>
              <a:srgbClr val="2232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1228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soap:Envelope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69164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223229"/>
          </a:solidFill>
          <a:ln w="12700">
            <a:solidFill>
              <a:srgbClr val="3445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soap:Header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(opcional)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2788920"/>
            <a:ext cx="4389120" cy="2651760"/>
          </a:xfrm>
          <a:prstGeom prst="roundRect">
            <a:avLst>
              <a:gd name="adj" fmla="val 2069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040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soap:Body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0" y="333756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&lt;RegistrarProductoRequest&gt;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&lt;codigo&gt;P001&lt;/codigo&gt;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&lt;nombre&gt;Mouse&lt;/nombre&gt;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&lt;precio&gt;25.50&lt;/precio&gt;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&lt;cantidad&gt;100&lt;/cantidad&gt;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&lt;/RegistrarProductoRequest&gt;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0FBE22B-B784-E163-8A7F-F08140AC47EF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IMPORTANTE ·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WSDL: el contrato del servicio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Description Language — describe, de forma exacta, qué operaciones ofrece el servicio, qué datos recibe cada una y qué devuelve. Mientras cliente y servidor lo respeten, no importa el lenguaje de cada uno.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 datos: qué campos tiene un Producto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entra y qué sale en cada operación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7532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de las 6 operaciones disponibles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9560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transporta: SOAP sobre HTTP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42976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0" y="4480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/ 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9560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donde vive el servicio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429768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E9DA"/>
          </a:solidFill>
          <a:ln w="19050">
            <a:solidFill>
              <a:srgbClr val="C97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75320" y="4480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productos.wsdl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49560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archivo — accesible desde el navegador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D7CE1525-A250-7285-6C70-92A64E55A3B7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construimos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62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D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contrato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Escribimos productos.wsdl antes que una sola línea del servidor.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79476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D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9476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servidor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94760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soap + express, con validaciones y mensajes claros.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62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2084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D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clientes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(zeep) y PHP (SoapClient), cada uno en consola.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1832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64692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FD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64692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todo en SoapUI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46920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correcto y uno incorrecto por cada operación.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9D08E4C5-999B-2DD7-8083-37E3F9A29341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contrato, tres instancias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corre su propio servidor local; los tres comparten la misma base de datos.</a:t>
            </a:r>
            <a:endParaRPr lang="en-US" sz="1300" dirty="0"/>
          </a:p>
        </p:txBody>
      </p:sp>
      <p:pic>
        <p:nvPicPr>
          <p:cNvPr id="5" name="Image 0" descr="D:\Ismael\DESARROLLO\aplicaciones_distribuidas\proyecto-soap-productos\informe\diagrama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149" y="1874520"/>
            <a:ext cx="6164654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A4E783C-9F54-37F1-4C77-6C6022339C46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6 operaciones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96112" y="185623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RegistrarProducto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 producto — código único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99432" y="185623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9943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ConsultarProducto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uno por su código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302752" y="185623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30275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468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ListarProductos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todo el inventario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ActualizarStock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5440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cantidad disponible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599432" y="418795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59943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9432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CalcularValorInventario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9432" y="5440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× cantidad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8302752" y="4187952"/>
            <a:ext cx="457200" cy="457200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30275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2752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EliminarProducto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02752" y="5440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quita del inventario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9B89588D-948D-AFB4-67F2-12EF406D835C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ERRORES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operación confía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los datos a ciegas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587752"/>
            <a:ext cx="109728" cy="109728"/>
          </a:xfrm>
          <a:prstGeom prst="ellipse">
            <a:avLst/>
          </a:prstGeom>
          <a:solidFill>
            <a:srgbClr val="8FD6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no puede estar vacío ni repetirse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154680"/>
            <a:ext cx="109728" cy="109728"/>
          </a:xfrm>
          <a:prstGeom prst="ellipse">
            <a:avLst/>
          </a:prstGeom>
          <a:solidFill>
            <a:srgbClr val="8FD6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6012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categoría no pueden estar vacíos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721608"/>
            <a:ext cx="109728" cy="109728"/>
          </a:xfrm>
          <a:prstGeom prst="ellipse">
            <a:avLst/>
          </a:prstGeom>
          <a:solidFill>
            <a:srgbClr val="8FD6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36484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debe ser mayor que cero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288536"/>
            <a:ext cx="109728" cy="109728"/>
          </a:xfrm>
          <a:prstGeom prst="ellipse">
            <a:avLst/>
          </a:prstGeom>
          <a:solidFill>
            <a:srgbClr val="8FD6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0120" y="42153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cantidad debe ser un entero ≥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855464"/>
            <a:ext cx="109728" cy="109728"/>
          </a:xfrm>
          <a:prstGeom prst="ellipse">
            <a:avLst/>
          </a:prstGeom>
          <a:solidFill>
            <a:srgbClr val="8FD6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60120" y="47823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debe existir antes de consultarlo, actualizarlo o eliminarlo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2514600"/>
            <a:ext cx="4572000" cy="2651760"/>
          </a:xfrm>
          <a:prstGeom prst="roundRect">
            <a:avLst>
              <a:gd name="adj" fmla="val 2759"/>
            </a:avLst>
          </a:prstGeom>
          <a:solidFill>
            <a:srgbClr val="1C2B25"/>
          </a:solidFill>
          <a:ln w="12700">
            <a:solidFill>
              <a:srgbClr val="2232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22376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ante un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306324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"estado": false,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"mensaje": "El producto con el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código P001 no existe"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D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AF89016-88E2-9EC7-F86C-DBE59339177A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1 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servidor arrancando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 — hidrata desde Supabase y deja el WSDL y la API REST disponibles.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9875520" cy="3149098"/>
          </a:xfrm>
          <a:prstGeom prst="roundRect">
            <a:avLst>
              <a:gd name="adj" fmla="val 1742"/>
            </a:avLst>
          </a:prstGeom>
          <a:solidFill>
            <a:srgbClr val="16211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C:\Users\melpe\AppData\Local\Temp\claude\D--Ismael-DESARROLLO-lumio-notas-proyecto-claude\2a3cac32-8aea-4b5c-8de5-c2c7e1550d08\scratchpad\ppt_assets\docx_media\word\media\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514600"/>
            <a:ext cx="9601200" cy="28747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528426F-25FA-5E41-2578-626771717956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2 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WSDL, accesible desde el navegador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F6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http://localhost:8000/productos?wsdl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813" y="1920240"/>
            <a:ext cx="4141326" cy="4928616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\Users\melpe\AppData\Local\Temp\claude\D--Ismael-DESARROLLO-lumio-notas-proyecto-claude\2a3cac32-8aea-4b5c-8de5-c2c7e1550d08\scratchpad\ppt_assets\docx_media\word\media\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541" y="2029968"/>
            <a:ext cx="392187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2A6C0ED-9401-E97A-D100-E3FBEE4643B4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3 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Probado en SoapUI: 13 casos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correcto y uno incorrecto por cada una de las 6 operaciones.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155524" cy="434340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905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D:\Ismael\DESARROLLO\aplicaciones_distribuidas\proyecto-soap-productos\evidencias\00_WSDL_importa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2972644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7044" y="2286000"/>
            <a:ext cx="7406640" cy="3631796"/>
          </a:xfrm>
          <a:prstGeom prst="roundRect">
            <a:avLst>
              <a:gd name="adj" fmla="val 1007"/>
            </a:avLst>
          </a:prstGeom>
          <a:solidFill>
            <a:srgbClr val="FFFFFF"/>
          </a:solidFill>
          <a:ln w="1905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D:\Ismael\DESARROLLO\aplicaciones_distribuidas\proyecto-soap-productos\evidencias\01_RegistrarProducto_correc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484" y="2377440"/>
            <a:ext cx="7223760" cy="34489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8484" y="59635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RegistrarProducto — caso correcto (estado = true)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9D3997E-F67A-496D-C54B-7C948F54FD99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4 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lenguajes, el mismo contrato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PHP consumen exactamente el mismo WSDL, sin conocerse entre sí.</a:t>
            </a:r>
            <a:endParaRPr lang="en-US" sz="1300" dirty="0"/>
          </a:p>
        </p:txBody>
      </p:sp>
      <p:pic>
        <p:nvPicPr>
          <p:cNvPr id="5" name="Image 0" descr="C:\Users\melpe\AppData\Local\Temp\claude\D--Ismael-DESARROLLO-lumio-notas-proyecto-claude\2a3cac32-8aea-4b5c-8de5-c2c7e1550d08\scratchpad\ppt_assets\docx_media\word\media\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166360" cy="30133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7077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Flask + zeep</a:t>
            </a:r>
            <a:endParaRPr lang="en-US" sz="1250" dirty="0"/>
          </a:p>
        </p:txBody>
      </p:sp>
      <p:pic>
        <p:nvPicPr>
          <p:cNvPr id="7" name="Image 1" descr="C:\Users\melpe\AppData\Local\Temp\claude\D--Ismael-DESARROLLO-lumio-notas-proyecto-claude\2a3cac32-8aea-4b5c-8de5-c2c7e1550d08\scratchpad\ppt_assets\docx_media\word\media\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5166360" cy="30133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5080" y="507077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A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SoapClient nativo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E2CF6F3-5DD2-02F4-171D-80A4B2538B26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ADICIONALES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Fuimos un poco más allá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Supabase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como fuente de verdad; la base de datos es un extra que nunca bloquea el servicio.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566928" cy="566928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sobre el mismo backend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0916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6 operaciones, mismas validaciones, expuestas también como REST para comparar en la práctica.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03920" y="2240280"/>
            <a:ext cx="566928" cy="566928"/>
          </a:xfrm>
          <a:prstGeom prst="ellipse">
            <a:avLst/>
          </a:prstGeom>
          <a:solidFill>
            <a:srgbClr val="E4EE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5039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0392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web para cada cliente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0392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en Flask y otro en PHP puro — la misma info que la consola, en el navegador.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CCF39F2-EF30-1D9B-7978-084BA29EF3C3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llevamos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WSDL bien definido es un contrato real: hizo posible que Python y PHP hablaran con el mismo servidor sin errores de interpretación.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86207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es más rígido que REST, pero esa rigidez es justo lo que permite que SoapUI genere las pruebas automáticamente a partir del WSDL.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94106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la lógica de negocio del transporte (SOAP y REST comparten el mismo código) evitó que los dos protocolos respondieran distinto.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457200" cy="45720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2005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más de lo mínimo — REST, Supabase, los paneles — fue lo que más nos ayudó a entender la diferencia entre SOAP y REST en la práctica.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3E4EF41-634B-4B8F-9339-31A3E2A52B53}"/>
              </a:ext>
            </a:extLst>
          </p:cNvPr>
          <p:cNvSpPr/>
          <p:nvPr/>
        </p:nvSpPr>
        <p:spPr>
          <a:xfrm>
            <a:off x="9807191" y="6036061"/>
            <a:ext cx="1788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r>
              <a:rPr lang="en-US" b="1" kern="0" spc="200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2F6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82996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Ismael Vanegas   ·   Alexandra Caicedo   ·   Israel Arevalo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productos.wsdl  ·  http://localhost:8000/productos?wsdl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1017</Words>
  <Application>Microsoft Office PowerPoint</Application>
  <PresentationFormat>Panorámica</PresentationFormat>
  <Paragraphs>205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Ismael Vanegas</cp:lastModifiedBy>
  <cp:revision>2</cp:revision>
  <dcterms:created xsi:type="dcterms:W3CDTF">2026-07-31T01:18:37Z</dcterms:created>
  <dcterms:modified xsi:type="dcterms:W3CDTF">2026-07-31T01:55:20Z</dcterms:modified>
</cp:coreProperties>
</file>