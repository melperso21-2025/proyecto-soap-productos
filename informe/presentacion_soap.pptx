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1D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SOAP PRODUCTOS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distribuido de gestión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productos con SOAP y WSDL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Node.js  ·  Contrato WSDL  ·  Clientes en Python y PHP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5029200"/>
            <a:ext cx="2926080" cy="0"/>
          </a:xfrm>
          <a:prstGeom prst="line">
            <a:avLst/>
          </a:prstGeom>
          <a:noFill/>
          <a:ln w="19050">
            <a:solidFill>
              <a:srgbClr val="2F6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166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Distribuidas — Tarea práctica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Ismael Vanegas   ·   Alexandra Caicedo   ·   Israel Arevalo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QUÉ VAMOS A HABLAR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12064" cy="512064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8196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protocolo SOAP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167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y por qué existe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512064" cy="512064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88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00200" y="27340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contrato WSDL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3081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pieza más importante del proyecto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703320"/>
            <a:ext cx="512064" cy="512064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703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484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las 6 operaciones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995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armado el sistema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617720"/>
            <a:ext cx="512064" cy="512064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5628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49103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Servidor, SoapUI y los dos clientes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5532120"/>
            <a:ext cx="512064" cy="512064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532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00200" y="54772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00200" y="58247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adicionales y conclusiones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app que reparte su trabajo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programas distintos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971800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información. En este proyecto: un script en Python, uno en PHP, o un panel web.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265176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971800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/ HTTP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40233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canal por donde viaja cada solicitud y cada respuesta, casi siempre sin que el usuario lo note.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65176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49640" y="2971800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964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49640" y="40233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los datos y responde. Aquí: un servidor Node.js con la lista de productos.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IMPORTANTE · 1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SOAP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Object Access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14884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7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protocolo de mensajería basado en XML. Cada solicitud y cada respuesta viaja dentro de un “sobre” con reglas estrictas: si el mensaje no coincide exactamente con lo que el contrato declaró, deja de ser válido.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914400"/>
            <a:ext cx="5029200" cy="4846320"/>
          </a:xfrm>
          <a:prstGeom prst="roundRect">
            <a:avLst>
              <a:gd name="adj" fmla="val 1509"/>
            </a:avLst>
          </a:prstGeom>
          <a:solidFill>
            <a:srgbClr val="1C2B25"/>
          </a:solidFill>
          <a:ln w="12700">
            <a:solidFill>
              <a:srgbClr val="2232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12280" y="1188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D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soap:Envelope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12280" y="1691640"/>
            <a:ext cx="4389120" cy="914400"/>
          </a:xfrm>
          <a:prstGeom prst="roundRect">
            <a:avLst>
              <a:gd name="adj" fmla="val 6000"/>
            </a:avLst>
          </a:prstGeom>
          <a:solidFill>
            <a:srgbClr val="223229"/>
          </a:solidFill>
          <a:ln w="12700">
            <a:solidFill>
              <a:srgbClr val="3445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soap:Header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0" y="2103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(opcional)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12280" y="2788920"/>
            <a:ext cx="4389120" cy="2651760"/>
          </a:xfrm>
          <a:prstGeom prst="roundRect">
            <a:avLst>
              <a:gd name="adj" fmla="val 2069"/>
            </a:avLst>
          </a:prstGeom>
          <a:solidFill>
            <a:srgbClr val="2F6F5E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0" y="2926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soap:Body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040880" y="333756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AF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&lt;RegistrarProductoRequest&gt;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AF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&lt;codigo&gt;P001&lt;/codigo&gt;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AF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&lt;nombre&gt;Mouse&lt;/nombre&gt;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AF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&lt;precio&gt;25.50&lt;/precio&gt;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AF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&lt;cantidad&gt;100&lt;/cantidad&gt;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AF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&lt;/RegistrarProductoRequest&gt;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IMPORTANTE · 2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WSDL: el contrato del servicio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Services Description Language — describe, de forma exacta, qué operaciones ofrece el servicio, qué datos recibe cada una y qué devuelve. Mientras cliente y servidor lo respeten, no importa el lenguaje de cada uno.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5146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9900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tipos de datos: qué campos tiene un Producto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23317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5146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29900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entra y qué sale en cada operación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233172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5146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portType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75320" y="29900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listado de las 6 operaciones disponibles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480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495604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transporta: SOAP sobre HTTP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43400" y="429768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4480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 / port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495604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 donde vive el servicio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429768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7E9DA"/>
          </a:solidFill>
          <a:ln w="19050">
            <a:solidFill>
              <a:srgbClr val="C97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44805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productos.wsdl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75320" y="495604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archivo — accesible desde el navegador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lo construimos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16211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D6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6868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el contrato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Escribimos productos.wsdl antes que una sola línea del servidor.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566160" y="201168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2F6F5E"/>
          </a:solidFill>
          <a:ln/>
        </p:spPr>
      </p:sp>
      <p:sp>
        <p:nvSpPr>
          <p:cNvPr id="10" name="Text 8"/>
          <p:cNvSpPr/>
          <p:nvPr/>
        </p:nvSpPr>
        <p:spPr>
          <a:xfrm>
            <a:off x="3794760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D6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79476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el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94760" y="37947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soap + express, con validaciones y mensajes claros.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92240" y="201168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16211D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D6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72084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los clientes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20840" y="37947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(zeep) y PHP (SoapClient), cada uno en consola.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9828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418320" y="201168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2F6F5E"/>
          </a:solidFill>
          <a:ln/>
        </p:spPr>
      </p:sp>
      <p:sp>
        <p:nvSpPr>
          <p:cNvPr id="20" name="Text 18"/>
          <p:cNvSpPr/>
          <p:nvPr/>
        </p:nvSpPr>
        <p:spPr>
          <a:xfrm>
            <a:off x="9646920" y="21945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D6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64692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todo en SoapUI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646920" y="37947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7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correcto y uno incorrecto por cada operación.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mismo contrato, tres instancias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corre su propio servidor local; los tres comparten la misma base de datos.</a:t>
            </a:r>
            <a:endParaRPr lang="en-US" sz="1300" dirty="0"/>
          </a:p>
        </p:txBody>
      </p:sp>
      <p:pic>
        <p:nvPicPr>
          <p:cNvPr id="5" name="Image 0" descr="D:\Ismael\DESARROLLO\aplicaciones_distribuidas\proyecto-soap-productos\informe\diagrama_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2149" y="1874520"/>
            <a:ext cx="6164654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6 operaciones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56232"/>
            <a:ext cx="457200" cy="457200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2468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RegistrarProducto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un producto — código único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56232"/>
            <a:ext cx="457200" cy="457200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2468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ConsultarProducto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99432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uno por su código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02752" y="1856232"/>
            <a:ext cx="457200" cy="457200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02752" y="24688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ListarProductos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02752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Devuelve todo el inventario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187952"/>
            <a:ext cx="457200" cy="457200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6112" y="48006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ActualizarStock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96112" y="54406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cantidad disponible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393192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4187952"/>
            <a:ext cx="457200" cy="457200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9432" y="48006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CalcularValorInventario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99432" y="54406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× cantidad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46720" y="393192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02752" y="4187952"/>
            <a:ext cx="457200" cy="457200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02752" y="48006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EliminarProducto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302752" y="54406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quita del inventario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ERRORES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operación confía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los datos a ciegas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587752"/>
            <a:ext cx="109728" cy="109728"/>
          </a:xfrm>
          <a:prstGeom prst="ellipse">
            <a:avLst/>
          </a:prstGeom>
          <a:solidFill>
            <a:srgbClr val="8FD6B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514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no puede estar vacío ni repetirse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109728" cy="109728"/>
          </a:xfrm>
          <a:prstGeom prst="ellipse">
            <a:avLst/>
          </a:prstGeom>
          <a:solidFill>
            <a:srgbClr val="8FD6B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0815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categoría no pueden estar vacíos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721608"/>
            <a:ext cx="109728" cy="109728"/>
          </a:xfrm>
          <a:prstGeom prst="ellipse">
            <a:avLst/>
          </a:prstGeom>
          <a:solidFill>
            <a:srgbClr val="8FD6B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6484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debe ser mayor que cero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288536"/>
            <a:ext cx="109728" cy="109728"/>
          </a:xfrm>
          <a:prstGeom prst="ellipse">
            <a:avLst/>
          </a:prstGeom>
          <a:solidFill>
            <a:srgbClr val="8FD6B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153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cantidad debe ser un entero ≥ 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855464"/>
            <a:ext cx="109728" cy="109728"/>
          </a:xfrm>
          <a:prstGeom prst="ellipse">
            <a:avLst/>
          </a:prstGeom>
          <a:solidFill>
            <a:srgbClr val="8FD6B8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7823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debe existir antes de consultarlo, actualizarlo o eliminarlo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949440" y="251460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1C2B25"/>
          </a:solidFill>
          <a:ln w="12700">
            <a:solidFill>
              <a:srgbClr val="2232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697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A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ante un error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23760" y="3063240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FD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FD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"estado": false,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FD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"mensaje": "El producto con el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FD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código P001 no existe"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FD6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· 1 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servidor arrancando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start — hidrata desde Supabase y deja el WSDL y la API REST disponibles.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377440"/>
            <a:ext cx="9875520" cy="3149098"/>
          </a:xfrm>
          <a:prstGeom prst="roundRect">
            <a:avLst>
              <a:gd name="adj" fmla="val 1742"/>
            </a:avLst>
          </a:prstGeom>
          <a:solidFill>
            <a:srgbClr val="16211D"/>
          </a:solidFill>
          <a:ln/>
        </p:spPr>
      </p:sp>
      <p:pic>
        <p:nvPicPr>
          <p:cNvPr id="6" name="Image 0" descr="C:\Users\melpe\AppData\Local\Temp\claude\D--Ismael-DESARROLLO-lumio-notas-proyecto-claude\2a3cac32-8aea-4b5c-8de5-c2c7e1550d08\scratchpad\ppt_assets\docx_media\word\media\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2514600"/>
            <a:ext cx="9601200" cy="287477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· 2 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WSDL, accesible desde el navegador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http://localhost:8000/productos?wsdl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813" y="1920240"/>
            <a:ext cx="4141326" cy="4928616"/>
          </a:xfrm>
          <a:prstGeom prst="roundRect">
            <a:avLst>
              <a:gd name="adj" fmla="val 883"/>
            </a:avLst>
          </a:prstGeom>
          <a:solidFill>
            <a:srgbClr val="FFFFFF"/>
          </a:solidFill>
          <a:ln w="19050">
            <a:solidFill>
              <a:srgbClr val="DADFD8"/>
            </a:solidFill>
            <a:prstDash val="solid"/>
          </a:ln>
        </p:spPr>
      </p:sp>
      <p:pic>
        <p:nvPicPr>
          <p:cNvPr id="6" name="Image 0" descr="C:\Users\melpe\AppData\Local\Temp\claude\D--Ismael-DESARROLLO-lumio-notas-proyecto-claude\2a3cac32-8aea-4b5c-8de5-c2c7e1550d08\scratchpad\ppt_assets\docx_media\word\media\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541" y="2029968"/>
            <a:ext cx="3921870" cy="4709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· 3 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Probado en SoapUI: 13 casos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correcto y uno incorrecto por cada una de las 6 operaciones.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155524" cy="4343400"/>
          </a:xfrm>
          <a:prstGeom prst="roundRect">
            <a:avLst>
              <a:gd name="adj" fmla="val 1159"/>
            </a:avLst>
          </a:prstGeom>
          <a:solidFill>
            <a:srgbClr val="FFFFFF"/>
          </a:solidFill>
          <a:ln w="19050">
            <a:solidFill>
              <a:srgbClr val="DADFD8"/>
            </a:solidFill>
            <a:prstDash val="solid"/>
          </a:ln>
        </p:spPr>
      </p:sp>
      <p:pic>
        <p:nvPicPr>
          <p:cNvPr id="6" name="Image 0" descr="D:\Ismael\DESARROLLO\aplicaciones_distribuidas\proyecto-soap-productos\evidencias\00_WSDL_impor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2972644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887044" y="2286000"/>
            <a:ext cx="7406640" cy="3631796"/>
          </a:xfrm>
          <a:prstGeom prst="roundRect">
            <a:avLst>
              <a:gd name="adj" fmla="val 1007"/>
            </a:avLst>
          </a:prstGeom>
          <a:solidFill>
            <a:srgbClr val="FFFFFF"/>
          </a:solidFill>
          <a:ln w="19050">
            <a:solidFill>
              <a:srgbClr val="DADFD8"/>
            </a:solidFill>
            <a:prstDash val="solid"/>
          </a:ln>
        </p:spPr>
      </p:sp>
      <p:pic>
        <p:nvPicPr>
          <p:cNvPr id="8" name="Image 1" descr="D:\Ismael\DESARROLLO\aplicaciones_distribuidas\proyecto-soap-productos\evidencias\01_RegistrarProducto_correc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484" y="2377440"/>
            <a:ext cx="7223760" cy="34489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78484" y="596351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RegistrarProducto — caso correcto (estado = true)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· 4 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lenguajes, el mismo contrato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y PHP consumen exactamente el mismo WSDL, sin conocerse entre sí.</a:t>
            </a:r>
            <a:endParaRPr lang="en-US" sz="1300" dirty="0"/>
          </a:p>
        </p:txBody>
      </p:sp>
      <p:pic>
        <p:nvPicPr>
          <p:cNvPr id="5" name="Image 0" descr="C:\Users\melpe\AppData\Local\Temp\claude\D--Ismael-DESARROLLO-lumio-notas-proyecto-claude\2a3cac32-8aea-4b5c-8de5-c2c7e1550d08\scratchpad\ppt_assets\docx_media\word\media\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66360" cy="30133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7077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Flask + zeep</a:t>
            </a:r>
            <a:endParaRPr lang="en-US" sz="1250" dirty="0"/>
          </a:p>
        </p:txBody>
      </p:sp>
      <p:pic>
        <p:nvPicPr>
          <p:cNvPr id="7" name="Image 1" descr="C:\Users\melpe\AppData\Local\Temp\claude\D--Ismael-DESARROLLO-lumio-notas-proyecto-claude\2a3cac32-8aea-4b5c-8de5-c2c7e1550d08\scratchpad\ppt_assets\docx_media\word\media\image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20240"/>
            <a:ext cx="5166360" cy="30133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55080" y="507077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A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— SoapClient nativo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ADICIONALES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Fuimos un poco más allá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40280"/>
            <a:ext cx="566928" cy="566928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con Supabase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como fuente de verdad; la base de datos es un extra que nunca bloquea el servicio.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96596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2240280"/>
            <a:ext cx="566928" cy="566928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0916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sobre el mismo backend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709160" y="37947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Mismas 6 operaciones, mismas validaciones, expuestas también como REST para comparar en la práctica.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0" y="196596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ADF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0" y="2240280"/>
            <a:ext cx="566928" cy="566928"/>
          </a:xfrm>
          <a:prstGeom prst="ellipse">
            <a:avLst/>
          </a:prstGeom>
          <a:solidFill>
            <a:srgbClr val="E4EEE9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F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0392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 web para cada cliente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503920" y="379476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dashboard en Flask y otro en PHP puro — la misma info que la consola, en el navegador.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nos llevamos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WSDL bien definido es un contrato real: hizo posible que Python y PHP hablaran con el mismo servidor sin errores de interpretación.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07792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862072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es más rígido que REST, pero esa rigidez es justo lo que permite que SoapUI genere las pruebas automáticamente a partir del WSDL.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986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3941064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lógica de negocio del transporte (SOAP y REST comparten el mismo código) evitó que los dos protocolos respondieran distinto.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457200" cy="45720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502005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E2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más de lo mínimo — REST, Supabase, los paneles — fue lo que más nos ayudó a entender la diferencia entre SOAP y REST en la práctica.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2F6F5E"/>
          </a:solidFill>
          <a:ln/>
        </p:spPr>
      </p:sp>
      <p:sp>
        <p:nvSpPr>
          <p:cNvPr id="3" name="Text 1"/>
          <p:cNvSpPr/>
          <p:nvPr/>
        </p:nvSpPr>
        <p:spPr>
          <a:xfrm>
            <a:off x="5682996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34290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4480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B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Ismael Vanegas   ·   Alexandra Caicedo   ·   Israel Arevalo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892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B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productos.wsdl  ·  http://localhost:8000/productos?wsdl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2026-07-31T01:18:37Z</dcterms:created>
  <dcterms:modified xsi:type="dcterms:W3CDTF">2026-07-31T01:18:37Z</dcterms:modified>
</cp:coreProperties>
</file>